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27103" y="0"/>
            <a:ext cx="164592" cy="6858000"/>
          </a:xfrm>
          <a:prstGeom prst="rect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40080"/>
            <a:ext cx="329184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" y="841248"/>
            <a:ext cx="91440" cy="91440"/>
          </a:xfrm>
          <a:prstGeom prst="ellipse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676656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Inter"/>
              </a:rPr>
              <a:t>MERIDIAN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84124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DEEA"/>
                </a:solidFill>
                <a:latin typeface="Inter"/>
              </a:rPr>
              <a:t>TECHNOLOGY GROUP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77440"/>
            <a:ext cx="640080" cy="564515000"/>
          </a:xfrm>
          <a:prstGeom prst="rect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1B8C6"/>
                </a:solidFill>
                <a:latin typeface="Inter"/>
              </a:rPr>
              <a:t>PROPOSAL  ·  APRIL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105156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Inter"/>
              </a:rPr>
              <a:t>Bursary Assessment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7947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 i="0">
                <a:solidFill>
                  <a:srgbClr val="6BDEEA"/>
                </a:solidFill>
                <a:latin typeface="Inter"/>
              </a:rPr>
              <a:t>A purpose-built replacement for Symplectic Grant Tracker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1B8C6"/>
                </a:solidFill>
                <a:latin typeface="Inter"/>
              </a:rPr>
              <a:t>Prepared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199632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Inter"/>
              </a:rPr>
              <a:t>John Whitgift Foundation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6895" y="6199632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00" b="0" i="0">
                <a:solidFill>
                  <a:srgbClr val="6BDEEA"/>
                </a:solidFill>
                <a:latin typeface="Inter"/>
              </a:rPr>
              <a:t>29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292608" cy="292608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94360"/>
            <a:ext cx="82296" cy="82296"/>
          </a:xfrm>
          <a:prstGeom prst="ellipse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429768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1F3D"/>
                </a:solidFill>
                <a:latin typeface="Inter"/>
              </a:rPr>
              <a:t>MERIDIAN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57607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818D9D"/>
                </a:solidFill>
                <a:latin typeface="Inter"/>
              </a:rPr>
              <a:t>TECHNOLOGY GROUP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02920" cy="564515000"/>
          </a:xfrm>
          <a:prstGeom prst="rect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1B8C6"/>
                </a:solidFill>
                <a:latin typeface="Inter"/>
              </a:rPr>
              <a:t>STATUS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A1F3D"/>
                </a:solidFill>
                <a:latin typeface="Inter"/>
              </a:rPr>
              <a:t>Where we are today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46520"/>
            <a:ext cx="11094415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18D9D"/>
                </a:solidFill>
                <a:latin typeface="Inter"/>
              </a:rPr>
              <a:t>Meridian Technology Group  ·  John Whitgift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5379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18D9D"/>
                </a:solidFill>
                <a:latin typeface="Inter"/>
              </a:rPr>
              <a:t>02 /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18D9D"/>
                </a:solidFill>
                <a:latin typeface="Inter"/>
              </a:rPr>
              <a:t>The system is substantially built. Today is about hardening, contracts, and migration.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08960"/>
            <a:ext cx="2606040" cy="237744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108960"/>
            <a:ext cx="2606040" cy="54864"/>
          </a:xfrm>
          <a:prstGeom prst="rect">
            <a:avLst/>
          </a:prstGeom>
          <a:solidFill>
            <a:srgbClr val="11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38328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1B8C6"/>
                </a:solidFill>
                <a:latin typeface="Inter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690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Inter"/>
              </a:rPr>
              <a:t>Foundations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3484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11B8C6"/>
                </a:solidFill>
                <a:latin typeface="Inter"/>
              </a:rPr>
              <a:t>COMPLETE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736592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DEEA"/>
                </a:solidFill>
                <a:latin typeface="Inter"/>
              </a:rPr>
              <a:t>Schema, auth, layout shells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3108960"/>
            <a:ext cx="2606040" cy="237744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37560" y="3108960"/>
            <a:ext cx="2606040" cy="54864"/>
          </a:xfrm>
          <a:prstGeom prst="rect">
            <a:avLst/>
          </a:prstGeom>
          <a:solidFill>
            <a:srgbClr val="11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338328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1B8C6"/>
                </a:solidFill>
                <a:latin typeface="Inter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40690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Inter"/>
              </a:rPr>
              <a:t>Core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443484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11B8C6"/>
                </a:solidFill>
                <a:latin typeface="Inter"/>
              </a:rPr>
              <a:t>COMPLETE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736592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DEEA"/>
                </a:solidFill>
                <a:latin typeface="Inter"/>
              </a:rPr>
              <a:t>Portal, assessment engine, recommendations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3108960"/>
            <a:ext cx="2606040" cy="237744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3108960"/>
            <a:ext cx="2606040" cy="54864"/>
          </a:xfrm>
          <a:prstGeom prst="rect">
            <a:avLst/>
          </a:prstGeom>
          <a:solidFill>
            <a:srgbClr val="11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38328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1B8C6"/>
                </a:solidFill>
                <a:latin typeface="Inter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0690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Inter"/>
              </a:rPr>
              <a:t>Operational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43484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11B8C6"/>
                </a:solidFill>
                <a:latin typeface="Inter"/>
              </a:rPr>
              <a:t>COMPLETE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736592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6BDEEA"/>
                </a:solidFill>
                <a:latin typeface="Inter"/>
              </a:rPr>
              <a:t>Exports, reports, audit, GDPR, PDF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15400" y="3108960"/>
            <a:ext cx="2606040" cy="23774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15400" y="3108960"/>
            <a:ext cx="2606040" cy="54864"/>
          </a:xfrm>
          <a:prstGeom prst="rect">
            <a:avLst/>
          </a:prstGeom>
          <a:solidFill>
            <a:srgbClr val="818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89720" y="3383280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818D9D"/>
                </a:solidFill>
                <a:latin typeface="Inter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40690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1F3D"/>
                </a:solidFill>
                <a:latin typeface="Inter"/>
              </a:rPr>
              <a:t>Production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443484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0A1F3D"/>
                </a:solidFill>
                <a:latin typeface="Inter"/>
              </a:rPr>
              <a:t>IN FLIGHT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9720" y="4736592"/>
            <a:ext cx="2057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818D9D"/>
                </a:solidFill>
                <a:latin typeface="Inter"/>
              </a:rPr>
              <a:t>Hardening, UAT, go-live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715000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A1F3D"/>
                </a:solidFill>
                <a:latin typeface="Inter"/>
              </a:rPr>
              <a:t>36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12648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18D9D"/>
                </a:solidFill>
                <a:latin typeface="Inter"/>
              </a:rPr>
              <a:t>routes built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37560" y="5715000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A1F3D"/>
                </a:solidFill>
                <a:latin typeface="Inter"/>
              </a:rPr>
              <a:t>100%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37560" y="612648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18D9D"/>
                </a:solidFill>
                <a:latin typeface="Inter"/>
              </a:rPr>
              <a:t>Must-Have features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5715000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A1F3D"/>
                </a:solidFill>
                <a:latin typeface="Inter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80" y="612648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18D9D"/>
                </a:solidFill>
                <a:latin typeface="Inter"/>
              </a:rPr>
              <a:t>TypeScript errors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15400" y="5715000"/>
            <a:ext cx="26060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A1F3D"/>
                </a:solidFill>
                <a:latin typeface="Inter"/>
              </a:rPr>
              <a:t>≥10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15400" y="6126480"/>
            <a:ext cx="2606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18D9D"/>
                </a:solidFill>
                <a:latin typeface="Inter"/>
              </a:rPr>
              <a:t>calc test cases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292608" cy="292608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94360"/>
            <a:ext cx="82296" cy="82296"/>
          </a:xfrm>
          <a:prstGeom prst="ellipse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429768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1F3D"/>
                </a:solidFill>
                <a:latin typeface="Inter"/>
              </a:rPr>
              <a:t>MERIDIAN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57607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818D9D"/>
                </a:solidFill>
                <a:latin typeface="Inter"/>
              </a:rPr>
              <a:t>TECHNOLOGY GROUP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02920" cy="564515000"/>
          </a:xfrm>
          <a:prstGeom prst="rect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1B8C6"/>
                </a:solidFill>
                <a:latin typeface="Inter"/>
              </a:rPr>
              <a:t>TIMELINE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A1F3D"/>
                </a:solidFill>
                <a:latin typeface="Inter"/>
              </a:rPr>
              <a:t>Path to production · end of June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46520"/>
            <a:ext cx="11094415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18D9D"/>
                </a:solidFill>
                <a:latin typeface="Inter"/>
              </a:rPr>
              <a:t>Meridian Technology Group  ·  John Whitgift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5379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18D9D"/>
                </a:solidFill>
                <a:latin typeface="Inter"/>
              </a:rPr>
              <a:t>03 /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18D9D"/>
                </a:solidFill>
                <a:latin typeface="Inter"/>
              </a:rPr>
              <a:t>Nine-week runway · four gates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91840"/>
            <a:ext cx="10728655" cy="36576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03360" y="3145536"/>
            <a:ext cx="329184" cy="329184"/>
          </a:xfrm>
          <a:prstGeom prst="ellipse">
            <a:avLst/>
          </a:prstGeom>
          <a:solidFill>
            <a:srgbClr val="11B8C6"/>
          </a:solidFill>
          <a:ln w="25400">
            <a:solidFill>
              <a:srgbClr val="0A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752" y="26517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1B8C6"/>
                </a:solidFill>
                <a:latin typeface="Inter"/>
              </a:rPr>
              <a:t>G1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32" y="23317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A1F3D"/>
                </a:solidFill>
                <a:latin typeface="Inter"/>
              </a:rPr>
              <a:t>11 May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32" y="36576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1F3D"/>
                </a:solidFill>
                <a:latin typeface="Inter"/>
              </a:rPr>
              <a:t>Initial Release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232" y="40690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818D9D"/>
                </a:solidFill>
                <a:latin typeface="Inter"/>
              </a:rPr>
              <a:t>Beta on staging</a:t>
            </a:r>
          </a:p>
        </p:txBody>
      </p:sp>
      <p:sp>
        <p:nvSpPr>
          <p:cNvPr id="19" name="Oval 18"/>
          <p:cNvSpPr/>
          <p:nvPr/>
        </p:nvSpPr>
        <p:spPr>
          <a:xfrm>
            <a:off x="4321957" y="3145536"/>
            <a:ext cx="329184" cy="329184"/>
          </a:xfrm>
          <a:prstGeom prst="ellipse">
            <a:avLst/>
          </a:prstGeom>
          <a:solidFill>
            <a:srgbClr val="11B8C6"/>
          </a:solidFill>
          <a:ln w="25400">
            <a:solidFill>
              <a:srgbClr val="0A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9349" y="26517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1B8C6"/>
                </a:solidFill>
                <a:latin typeface="Inter"/>
              </a:rPr>
              <a:t>G2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7829" y="23317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A1F3D"/>
                </a:solidFill>
                <a:latin typeface="Inter"/>
              </a:rPr>
              <a:t>18 May → 12 Jun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7829" y="36576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1F3D"/>
                </a:solidFill>
                <a:latin typeface="Inter"/>
              </a:rPr>
              <a:t>User Acceptance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97829" y="40690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818D9D"/>
                </a:solidFill>
                <a:latin typeface="Inter"/>
              </a:rPr>
              <a:t>Assessor validation</a:t>
            </a:r>
          </a:p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818D9D"/>
                </a:solidFill>
                <a:latin typeface="Inter"/>
              </a:rPr>
              <a:t>≥10 calc cases</a:t>
            </a:r>
          </a:p>
        </p:txBody>
      </p:sp>
      <p:sp>
        <p:nvSpPr>
          <p:cNvPr id="24" name="Oval 23"/>
          <p:cNvSpPr/>
          <p:nvPr/>
        </p:nvSpPr>
        <p:spPr>
          <a:xfrm>
            <a:off x="8076986" y="3145536"/>
            <a:ext cx="329184" cy="329184"/>
          </a:xfrm>
          <a:prstGeom prst="ellipse">
            <a:avLst/>
          </a:prstGeom>
          <a:solidFill>
            <a:srgbClr val="11B8C6"/>
          </a:solidFill>
          <a:ln w="25400">
            <a:solidFill>
              <a:srgbClr val="0A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84378" y="26517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1B8C6"/>
                </a:solidFill>
                <a:latin typeface="Inter"/>
              </a:rPr>
              <a:t>G3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52858" y="23317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A1F3D"/>
                </a:solidFill>
                <a:latin typeface="Inter"/>
              </a:rPr>
              <a:t>15 → 22 Jun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52858" y="36576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1F3D"/>
                </a:solidFill>
                <a:latin typeface="Inter"/>
              </a:rPr>
              <a:t>Pre-Prod Hardening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52858" y="40690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818D9D"/>
                </a:solidFill>
                <a:latin typeface="Inter"/>
              </a:rPr>
              <a:t>GDPR · perf · security</a:t>
            </a:r>
          </a:p>
        </p:txBody>
      </p:sp>
      <p:sp>
        <p:nvSpPr>
          <p:cNvPr id="29" name="Oval 28"/>
          <p:cNvSpPr/>
          <p:nvPr/>
        </p:nvSpPr>
        <p:spPr>
          <a:xfrm>
            <a:off x="10759150" y="3145536"/>
            <a:ext cx="329184" cy="329184"/>
          </a:xfrm>
          <a:prstGeom prst="ellipse">
            <a:avLst/>
          </a:prstGeom>
          <a:solidFill>
            <a:srgbClr val="11B8C6"/>
          </a:solidFill>
          <a:ln w="25400">
            <a:solidFill>
              <a:srgbClr val="0A1F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66542" y="26517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1B8C6"/>
                </a:solidFill>
                <a:latin typeface="Inter"/>
              </a:rPr>
              <a:t>G4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5022" y="23317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0A1F3D"/>
                </a:solidFill>
                <a:latin typeface="Inter"/>
              </a:rPr>
              <a:t>End June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5022" y="36576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0A1F3D"/>
                </a:solidFill>
                <a:latin typeface="Inter"/>
              </a:rPr>
              <a:t>Production Go-Live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35022" y="4069080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818D9D"/>
                </a:solidFill>
                <a:latin typeface="Inter"/>
              </a:rPr>
              <a:t>Cutover · 2-wk hypercare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669280"/>
            <a:ext cx="11091672" cy="5029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48640" y="5669280"/>
            <a:ext cx="45720" cy="0"/>
          </a:xfrm>
          <a:prstGeom prst="rect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5669280"/>
            <a:ext cx="54864" cy="502920"/>
          </a:xfrm>
          <a:prstGeom prst="rect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779008"/>
            <a:ext cx="107899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1D2937"/>
                </a:solidFill>
                <a:latin typeface="Inter"/>
              </a:rPr>
              <a:t>Migration from Grant Tracker runs as a parallel workstream — see slide 9.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292608" cy="292608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94360"/>
            <a:ext cx="82296" cy="82296"/>
          </a:xfrm>
          <a:prstGeom prst="ellipse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429768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1F3D"/>
                </a:solidFill>
                <a:latin typeface="Inter"/>
              </a:rPr>
              <a:t>MERIDIAN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57607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818D9D"/>
                </a:solidFill>
                <a:latin typeface="Inter"/>
              </a:rPr>
              <a:t>TECHNOLOGY GROUP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02920" cy="564515000"/>
          </a:xfrm>
          <a:prstGeom prst="rect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1B8C6"/>
                </a:solidFill>
                <a:latin typeface="Inter"/>
              </a:rPr>
              <a:t>COMMERCIAL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A1F3D"/>
                </a:solidFill>
                <a:latin typeface="Inter"/>
              </a:rPr>
              <a:t>Headline terms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46520"/>
            <a:ext cx="11094415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18D9D"/>
                </a:solidFill>
                <a:latin typeface="Inter"/>
              </a:rPr>
              <a:t>Meridian Technology Group  ·  John Whitgift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5379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18D9D"/>
                </a:solidFill>
                <a:latin typeface="Inter"/>
              </a:rPr>
              <a:t>04 / 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0575" y="2606040"/>
            <a:ext cx="36576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90575" y="2606040"/>
            <a:ext cx="3657600" cy="73152"/>
          </a:xfrm>
          <a:prstGeom prst="rect">
            <a:avLst/>
          </a:prstGeom>
          <a:solidFill>
            <a:srgbClr val="11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6335" y="30175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1B8C6"/>
                </a:solidFill>
                <a:latin typeface="Inter"/>
              </a:rPr>
              <a:t>INITIAL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335" y="3520440"/>
            <a:ext cx="29260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0A1F3D"/>
                </a:solidFill>
                <a:latin typeface="Inter"/>
              </a:rPr>
              <a:t>£5,000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335" y="507492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18D9D"/>
                </a:solidFill>
                <a:latin typeface="Inter"/>
              </a:rPr>
              <a:t>One-off · 100% on contract signature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67047" y="2606040"/>
            <a:ext cx="3657600" cy="329184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67047" y="2606040"/>
            <a:ext cx="3657600" cy="73152"/>
          </a:xfrm>
          <a:prstGeom prst="rect">
            <a:avLst/>
          </a:prstGeom>
          <a:solidFill>
            <a:srgbClr val="11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32807" y="30175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1B8C6"/>
                </a:solidFill>
                <a:latin typeface="Inter"/>
              </a:rPr>
              <a:t>ANNUAL LICENSE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2807" y="3520440"/>
            <a:ext cx="29260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FFFFFF"/>
                </a:solidFill>
                <a:latin typeface="Inter"/>
              </a:rPr>
              <a:t>£7,000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2807" y="507492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6BDEEA"/>
                </a:solidFill>
                <a:latin typeface="Inter"/>
              </a:rPr>
              <a:t>Year 1 invoiced on go-live · annually thereafter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3519" y="2606040"/>
            <a:ext cx="36576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43519" y="2606040"/>
            <a:ext cx="3657600" cy="73152"/>
          </a:xfrm>
          <a:prstGeom prst="rect">
            <a:avLst/>
          </a:prstGeom>
          <a:solidFill>
            <a:srgbClr val="11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09279" y="30175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1B8C6"/>
                </a:solidFill>
                <a:latin typeface="Inter"/>
              </a:rPr>
              <a:t>MIGRATION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09279" y="3520440"/>
            <a:ext cx="29260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 i="0">
                <a:solidFill>
                  <a:srgbClr val="0A1F3D"/>
                </a:solidFill>
                <a:latin typeface="Inter"/>
              </a:rPr>
              <a:t>Custom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9279" y="507492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818D9D"/>
                </a:solidFill>
                <a:latin typeface="Inter"/>
              </a:rPr>
              <a:t>Discovery-led · separately scoped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6035040"/>
            <a:ext cx="11094415" cy="3840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6035040"/>
            <a:ext cx="54864" cy="384048"/>
          </a:xfrm>
          <a:prstGeom prst="rect">
            <a:avLst/>
          </a:prstGeom>
          <a:solidFill>
            <a:srgbClr val="11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6089904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1B8C6"/>
                </a:solidFill>
                <a:latin typeface="Inter"/>
              </a:rPr>
              <a:t>PAYMENT CADENCE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06040" y="6089904"/>
            <a:ext cx="90370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D2937"/>
                </a:solidFill>
                <a:latin typeface="Inter"/>
              </a:rPr>
              <a:t>Build on contract signature  ·  Year 1 licence on go-live (end June 2026)  ·  Net 30 day terms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292608" cy="292608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94360"/>
            <a:ext cx="82296" cy="82296"/>
          </a:xfrm>
          <a:prstGeom prst="ellipse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429768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1F3D"/>
                </a:solidFill>
                <a:latin typeface="Inter"/>
              </a:rPr>
              <a:t>MERIDIAN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57607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818D9D"/>
                </a:solidFill>
                <a:latin typeface="Inter"/>
              </a:rPr>
              <a:t>TECHNOLOGY GROUP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02920" cy="564515000"/>
          </a:xfrm>
          <a:prstGeom prst="rect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1B8C6"/>
                </a:solidFill>
                <a:latin typeface="Inter"/>
              </a:rPr>
              <a:t>LICENCE FEE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A1F3D"/>
                </a:solidFill>
                <a:latin typeface="Inter"/>
              </a:rPr>
              <a:t>Transparent build-up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46520"/>
            <a:ext cx="11094415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18D9D"/>
                </a:solidFill>
                <a:latin typeface="Inter"/>
              </a:rPr>
              <a:t>Meridian Technology Group  ·  John Whitgift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5379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18D9D"/>
                </a:solidFill>
                <a:latin typeface="Inter"/>
              </a:rPr>
              <a:t>05 /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18D9D"/>
                </a:solidFill>
                <a:latin typeface="Inter"/>
              </a:rPr>
              <a:t>Built bottom-up from real costs · no hidden margin on infrastructure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718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1B8C6"/>
                </a:solidFill>
                <a:latin typeface="Inter"/>
              </a:rPr>
              <a:t>INFRASTRUCTURE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918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1F3D"/>
                </a:solidFill>
                <a:latin typeface="Inter"/>
              </a:rPr>
              <a:t>~ £1,000 / year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31920"/>
            <a:ext cx="5486400" cy="3840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4096512"/>
            <a:ext cx="73152" cy="73152"/>
          </a:xfrm>
          <a:prstGeom prst="ellipse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400507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1F3D"/>
                </a:solidFill>
                <a:latin typeface="Inter"/>
              </a:rPr>
              <a:t>Vercel Pro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40233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18D9D"/>
                </a:solidFill>
                <a:latin typeface="Inter"/>
              </a:rPr>
              <a:t>Production hosting · edge · zero-downtime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94960" y="400507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0A1F3D"/>
                </a:solidFill>
                <a:latin typeface="Inter"/>
              </a:rPr>
              <a:t>£200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315968"/>
            <a:ext cx="54864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4480560"/>
            <a:ext cx="73152" cy="73152"/>
          </a:xfrm>
          <a:prstGeom prst="ellipse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3891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1F3D"/>
                </a:solidFill>
                <a:latin typeface="Inter"/>
              </a:rPr>
              <a:t>Supabase Pro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4407408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18D9D"/>
                </a:solidFill>
                <a:latin typeface="Inter"/>
              </a:rPr>
              <a:t>Postgres · auth · storage · daily backup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438912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0A1F3D"/>
                </a:solidFill>
                <a:latin typeface="Inter"/>
              </a:rPr>
              <a:t>£240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700016"/>
            <a:ext cx="5486400" cy="3840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5800" y="4864608"/>
            <a:ext cx="73152" cy="73152"/>
          </a:xfrm>
          <a:prstGeom prst="ellipse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77316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1F3D"/>
                </a:solidFill>
                <a:latin typeface="Inter"/>
              </a:rPr>
              <a:t>Resend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31720" y="4791456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18D9D"/>
                </a:solidFill>
                <a:latin typeface="Inter"/>
              </a:rPr>
              <a:t>Transactional email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4773168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0A1F3D"/>
                </a:solidFill>
                <a:latin typeface="Inter"/>
              </a:rPr>
              <a:t>£190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5084064"/>
            <a:ext cx="54864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5800" y="5248656"/>
            <a:ext cx="73152" cy="73152"/>
          </a:xfrm>
          <a:prstGeom prst="ellipse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15721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1F3D"/>
                </a:solidFill>
                <a:latin typeface="Inter"/>
              </a:rPr>
              <a:t>Sentry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31720" y="517550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18D9D"/>
                </a:solidFill>
                <a:latin typeface="Inter"/>
              </a:rPr>
              <a:t>Error monitoring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60" y="515721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0A1F3D"/>
                </a:solidFill>
                <a:latin typeface="Inter"/>
              </a:rPr>
              <a:t>£250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5468112"/>
            <a:ext cx="5486400" cy="384048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85800" y="5632704"/>
            <a:ext cx="73152" cy="73152"/>
          </a:xfrm>
          <a:prstGeom prst="ellipse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8680" y="554126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1F3D"/>
                </a:solidFill>
                <a:latin typeface="Inter"/>
              </a:rPr>
              <a:t>Domain &amp; SSL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31720" y="5559552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18D9D"/>
                </a:solidFill>
                <a:latin typeface="Inter"/>
              </a:rPr>
              <a:t>Custom domain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94960" y="554126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0A1F3D"/>
                </a:solidFill>
                <a:latin typeface="Inter"/>
              </a:rPr>
              <a:t>£20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852160"/>
            <a:ext cx="548640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5800" y="6016752"/>
            <a:ext cx="73152" cy="73152"/>
          </a:xfrm>
          <a:prstGeom prst="ellipse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592531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1F3D"/>
                </a:solidFill>
                <a:latin typeface="Inter"/>
              </a:rPr>
              <a:t>Headroom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331720" y="59436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18D9D"/>
                </a:solidFill>
                <a:latin typeface="Inter"/>
              </a:rPr>
              <a:t>Traffic &amp; overage buffer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94960" y="59253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0A1F3D"/>
                </a:solidFill>
                <a:latin typeface="Inter"/>
              </a:rPr>
              <a:t>£100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29718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1B8C6"/>
                </a:solidFill>
                <a:latin typeface="Inter"/>
              </a:rPr>
              <a:t>MAINTENANCE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329184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A1F3D"/>
                </a:solidFill>
                <a:latin typeface="Inter"/>
              </a:rPr>
              <a:t>£6,000 / year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388620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18D9D"/>
                </a:solidFill>
                <a:latin typeface="Inter"/>
              </a:rPr>
              <a:t>£500 / month allocation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4297680"/>
            <a:ext cx="521208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D2937"/>
                </a:solidFill>
                <a:latin typeface="Inter"/>
              </a:rPr>
              <a:t>Bug fixes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D2937"/>
                </a:solidFill>
                <a:latin typeface="Inter"/>
              </a:rPr>
              <a:t>Security patches &amp; dependency updates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D2937"/>
                </a:solidFill>
                <a:latin typeface="Inter"/>
              </a:rPr>
              <a:t>Reference table tweaks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D2937"/>
                </a:solidFill>
                <a:latin typeface="Inter"/>
              </a:rPr>
              <a:t>Minor enhancements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D2937"/>
                </a:solidFill>
                <a:latin typeface="Inter"/>
              </a:rPr>
              <a:t>Ad-hoc support requests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1D2937"/>
                </a:solidFill>
                <a:latin typeface="Inter"/>
              </a:rPr>
              <a:t>Quarterly review meetings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00800" y="5623560"/>
            <a:ext cx="5212080" cy="86868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00800" y="5623560"/>
            <a:ext cx="73152" cy="868680"/>
          </a:xfrm>
          <a:prstGeom prst="rect">
            <a:avLst/>
          </a:prstGeom>
          <a:solidFill>
            <a:srgbClr val="11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75120" y="5733288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1B8C6"/>
                </a:solidFill>
                <a:latin typeface="Inter"/>
              </a:rPr>
              <a:t>TOTAL ANNUAL LICENCE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5120" y="5971032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FFFFFF"/>
                </a:solidFill>
                <a:latin typeface="Inter"/>
              </a:rPr>
              <a:t>£7,000 / year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292608" cy="292608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94360"/>
            <a:ext cx="82296" cy="82296"/>
          </a:xfrm>
          <a:prstGeom prst="ellipse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429768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1F3D"/>
                </a:solidFill>
                <a:latin typeface="Inter"/>
              </a:rPr>
              <a:t>MERIDIAN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57607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818D9D"/>
                </a:solidFill>
                <a:latin typeface="Inter"/>
              </a:rPr>
              <a:t>TECHNOLOGY GROUP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02920" cy="564515000"/>
          </a:xfrm>
          <a:prstGeom prst="rect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1B8C6"/>
                </a:solidFill>
                <a:latin typeface="Inter"/>
              </a:rPr>
              <a:t>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A1F3D"/>
                </a:solidFill>
                <a:latin typeface="Inter"/>
              </a:rPr>
              <a:t>What maintenance covers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46520"/>
            <a:ext cx="11094415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18D9D"/>
                </a:solidFill>
                <a:latin typeface="Inter"/>
              </a:rPr>
              <a:t>Meridian Technology Group  ·  John Whitgift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5379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18D9D"/>
                </a:solidFill>
                <a:latin typeface="Inter"/>
              </a:rPr>
              <a:t>06 / 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0011" y="2606040"/>
            <a:ext cx="5486400" cy="3611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0011" y="2606040"/>
            <a:ext cx="5486400" cy="73152"/>
          </a:xfrm>
          <a:prstGeom prst="rect">
            <a:avLst/>
          </a:prstGeom>
          <a:solidFill>
            <a:srgbClr val="11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5771" y="297180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1B8C6"/>
                </a:solidFill>
                <a:latin typeface="Inter"/>
              </a:rPr>
              <a:t>INCLUDED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5771" y="32918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A1F3D"/>
                </a:solidFill>
                <a:latin typeface="Inter"/>
              </a:rPr>
              <a:t>No additional charge</a:t>
            </a:r>
          </a:p>
        </p:txBody>
      </p:sp>
      <p:sp>
        <p:nvSpPr>
          <p:cNvPr id="16" name="Oval 15"/>
          <p:cNvSpPr/>
          <p:nvPr/>
        </p:nvSpPr>
        <p:spPr>
          <a:xfrm>
            <a:off x="961491" y="4096512"/>
            <a:ext cx="128016" cy="128016"/>
          </a:xfrm>
          <a:prstGeom prst="ellipse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5811" y="4023360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D2937"/>
                </a:solidFill>
                <a:latin typeface="Inter"/>
              </a:rPr>
              <a:t>Bug fixes &amp; regressions</a:t>
            </a:r>
          </a:p>
        </p:txBody>
      </p:sp>
      <p:sp>
        <p:nvSpPr>
          <p:cNvPr id="18" name="Oval 17"/>
          <p:cNvSpPr/>
          <p:nvPr/>
        </p:nvSpPr>
        <p:spPr>
          <a:xfrm>
            <a:off x="961491" y="4389120"/>
            <a:ext cx="128016" cy="128016"/>
          </a:xfrm>
          <a:prstGeom prst="ellipse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5811" y="4315968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D2937"/>
                </a:solidFill>
                <a:latin typeface="Inter"/>
              </a:rPr>
              <a:t>Security patches</a:t>
            </a:r>
          </a:p>
        </p:txBody>
      </p:sp>
      <p:sp>
        <p:nvSpPr>
          <p:cNvPr id="20" name="Oval 19"/>
          <p:cNvSpPr/>
          <p:nvPr/>
        </p:nvSpPr>
        <p:spPr>
          <a:xfrm>
            <a:off x="961491" y="4681728"/>
            <a:ext cx="128016" cy="128016"/>
          </a:xfrm>
          <a:prstGeom prst="ellipse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5811" y="4608576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D2937"/>
                </a:solidFill>
                <a:latin typeface="Inter"/>
              </a:rPr>
              <a:t>Dependency updates</a:t>
            </a:r>
          </a:p>
        </p:txBody>
      </p:sp>
      <p:sp>
        <p:nvSpPr>
          <p:cNvPr id="22" name="Oval 21"/>
          <p:cNvSpPr/>
          <p:nvPr/>
        </p:nvSpPr>
        <p:spPr>
          <a:xfrm>
            <a:off x="961491" y="4974336"/>
            <a:ext cx="128016" cy="128016"/>
          </a:xfrm>
          <a:prstGeom prst="ellipse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35811" y="4901184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D2937"/>
                </a:solidFill>
                <a:latin typeface="Inter"/>
              </a:rPr>
              <a:t>Reference table tweaks</a:t>
            </a:r>
          </a:p>
        </p:txBody>
      </p:sp>
      <p:sp>
        <p:nvSpPr>
          <p:cNvPr id="24" name="Oval 23"/>
          <p:cNvSpPr/>
          <p:nvPr/>
        </p:nvSpPr>
        <p:spPr>
          <a:xfrm>
            <a:off x="961491" y="5266944"/>
            <a:ext cx="128016" cy="128016"/>
          </a:xfrm>
          <a:prstGeom prst="ellipse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5811" y="5193792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D2937"/>
                </a:solidFill>
                <a:latin typeface="Inter"/>
              </a:rPr>
              <a:t>Minor enhancements</a:t>
            </a:r>
          </a:p>
        </p:txBody>
      </p:sp>
      <p:sp>
        <p:nvSpPr>
          <p:cNvPr id="26" name="Oval 25"/>
          <p:cNvSpPr/>
          <p:nvPr/>
        </p:nvSpPr>
        <p:spPr>
          <a:xfrm>
            <a:off x="961491" y="5559552"/>
            <a:ext cx="128016" cy="128016"/>
          </a:xfrm>
          <a:prstGeom prst="ellipse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5811" y="5486400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D2937"/>
                </a:solidFill>
                <a:latin typeface="Inter"/>
              </a:rPr>
              <a:t>Ad-hoc support questions</a:t>
            </a:r>
          </a:p>
        </p:txBody>
      </p:sp>
      <p:sp>
        <p:nvSpPr>
          <p:cNvPr id="28" name="Oval 27"/>
          <p:cNvSpPr/>
          <p:nvPr/>
        </p:nvSpPr>
        <p:spPr>
          <a:xfrm>
            <a:off x="961491" y="5852160"/>
            <a:ext cx="128016" cy="128016"/>
          </a:xfrm>
          <a:prstGeom prst="ellipse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5811" y="5779008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D2937"/>
                </a:solidFill>
                <a:latin typeface="Inter"/>
              </a:rPr>
              <a:t>Annual GDPR review support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55283" y="2606040"/>
            <a:ext cx="5486400" cy="361188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55283" y="2606040"/>
            <a:ext cx="5486400" cy="73152"/>
          </a:xfrm>
          <a:prstGeom prst="rect">
            <a:avLst/>
          </a:prstGeom>
          <a:solidFill>
            <a:srgbClr val="818D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21043" y="2971800"/>
            <a:ext cx="4754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18D9D"/>
                </a:solidFill>
                <a:latin typeface="Inter"/>
              </a:rPr>
              <a:t>QUOTED SEPARATELY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1043" y="32918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A1F3D"/>
                </a:solidFill>
                <a:latin typeface="Inter"/>
              </a:rPr>
              <a:t>Custom scope</a:t>
            </a:r>
          </a:p>
        </p:txBody>
      </p:sp>
      <p:sp>
        <p:nvSpPr>
          <p:cNvPr id="34" name="Oval 33"/>
          <p:cNvSpPr/>
          <p:nvPr/>
        </p:nvSpPr>
        <p:spPr>
          <a:xfrm>
            <a:off x="6566763" y="4096512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1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41083" y="4023360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D2937"/>
                </a:solidFill>
                <a:latin typeface="Inter"/>
              </a:rPr>
              <a:t>New major features</a:t>
            </a:r>
          </a:p>
        </p:txBody>
      </p:sp>
      <p:sp>
        <p:nvSpPr>
          <p:cNvPr id="36" name="Oval 35"/>
          <p:cNvSpPr/>
          <p:nvPr/>
        </p:nvSpPr>
        <p:spPr>
          <a:xfrm>
            <a:off x="6566763" y="4389120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1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41083" y="4315968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D2937"/>
                </a:solidFill>
                <a:latin typeface="Inter"/>
              </a:rPr>
              <a:t>Phase 2 roadmap items</a:t>
            </a:r>
          </a:p>
        </p:txBody>
      </p:sp>
      <p:sp>
        <p:nvSpPr>
          <p:cNvPr id="38" name="Oval 37"/>
          <p:cNvSpPr/>
          <p:nvPr/>
        </p:nvSpPr>
        <p:spPr>
          <a:xfrm>
            <a:off x="6566763" y="4681728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1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41083" y="4608576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D2937"/>
                </a:solidFill>
                <a:latin typeface="Inter"/>
              </a:rPr>
              <a:t>Calculation model changes</a:t>
            </a:r>
          </a:p>
        </p:txBody>
      </p:sp>
      <p:sp>
        <p:nvSpPr>
          <p:cNvPr id="40" name="Oval 39"/>
          <p:cNvSpPr/>
          <p:nvPr/>
        </p:nvSpPr>
        <p:spPr>
          <a:xfrm>
            <a:off x="6566763" y="4974336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1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41083" y="4901184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D2937"/>
                </a:solidFill>
                <a:latin typeface="Inter"/>
              </a:rPr>
              <a:t>Integrations with external systems</a:t>
            </a:r>
          </a:p>
        </p:txBody>
      </p:sp>
      <p:sp>
        <p:nvSpPr>
          <p:cNvPr id="42" name="Oval 41"/>
          <p:cNvSpPr/>
          <p:nvPr/>
        </p:nvSpPr>
        <p:spPr>
          <a:xfrm>
            <a:off x="6566763" y="5266944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1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41083" y="5193792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D2937"/>
                </a:solidFill>
                <a:latin typeface="Inter"/>
              </a:rPr>
              <a:t>Data migrations beyond Grant Tracker</a:t>
            </a:r>
          </a:p>
        </p:txBody>
      </p:sp>
      <p:sp>
        <p:nvSpPr>
          <p:cNvPr id="44" name="Oval 43"/>
          <p:cNvSpPr/>
          <p:nvPr/>
        </p:nvSpPr>
        <p:spPr>
          <a:xfrm>
            <a:off x="6566763" y="5559552"/>
            <a:ext cx="128016" cy="1280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818D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41083" y="5486400"/>
            <a:ext cx="43891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D2937"/>
                </a:solidFill>
                <a:latin typeface="Inter"/>
              </a:rPr>
              <a:t>Bespoke reporting builds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292608" cy="292608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94360"/>
            <a:ext cx="82296" cy="82296"/>
          </a:xfrm>
          <a:prstGeom prst="ellipse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429768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1F3D"/>
                </a:solidFill>
                <a:latin typeface="Inter"/>
              </a:rPr>
              <a:t>MERIDIAN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57607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818D9D"/>
                </a:solidFill>
                <a:latin typeface="Inter"/>
              </a:rPr>
              <a:t>TECHNOLOGY GROUP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02920" cy="564515000"/>
          </a:xfrm>
          <a:prstGeom prst="rect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1B8C6"/>
                </a:solidFill>
                <a:latin typeface="Inter"/>
              </a:rPr>
              <a:t>SUPPORT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A1F3D"/>
                </a:solidFill>
                <a:latin typeface="Inter"/>
              </a:rPr>
              <a:t>Reliable communication, real coverage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46520"/>
            <a:ext cx="11094415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18D9D"/>
                </a:solidFill>
                <a:latin typeface="Inter"/>
              </a:rPr>
              <a:t>Meridian Technology Group  ·  John Whitgift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5379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18D9D"/>
                </a:solidFill>
                <a:latin typeface="Inter"/>
              </a:rPr>
              <a:t>07 / 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0011" y="2468880"/>
            <a:ext cx="5486400" cy="132588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50011" y="2468880"/>
            <a:ext cx="73152" cy="1325880"/>
          </a:xfrm>
          <a:prstGeom prst="rect">
            <a:avLst/>
          </a:prstGeom>
          <a:solidFill>
            <a:srgbClr val="11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0051" y="263347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1B8C6"/>
                </a:solidFill>
                <a:latin typeface="Inter"/>
              </a:rPr>
              <a:t>TICKETING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0051" y="28803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Inter"/>
              </a:rPr>
              <a:t>Freshdesk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051" y="33375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6BDEEA"/>
                </a:solidFill>
                <a:latin typeface="Inter"/>
              </a:rPr>
              <a:t>Email-to-ticket · self-service portal · full SLA audit trail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55283" y="2468880"/>
            <a:ext cx="5486400" cy="132588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55283" y="2468880"/>
            <a:ext cx="73152" cy="1325880"/>
          </a:xfrm>
          <a:prstGeom prst="rect">
            <a:avLst/>
          </a:prstGeom>
          <a:solidFill>
            <a:srgbClr val="11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5323" y="263347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1B8C6"/>
                </a:solidFill>
                <a:latin typeface="Inter"/>
              </a:rPr>
              <a:t>COVERAGE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5323" y="28803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 i="0">
                <a:solidFill>
                  <a:srgbClr val="0A1F3D"/>
                </a:solidFill>
                <a:latin typeface="Inter"/>
              </a:rPr>
              <a:t>Team-backed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5323" y="33375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818D9D"/>
                </a:solidFill>
                <a:latin typeface="Inter"/>
              </a:rPr>
              <a:t>Brian as primary contact · outsourced engineering team scaled on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0690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1B8C6"/>
                </a:solidFill>
                <a:latin typeface="Inter"/>
              </a:rPr>
              <a:t>RESPONSE SLA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297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818D9D"/>
                </a:solidFill>
                <a:latin typeface="Inter"/>
              </a:rPr>
              <a:t>Severity-based, working hours Mon–Fri 09:00–17:30 UK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8463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1B8C6"/>
                </a:solidFill>
                <a:latin typeface="Inter"/>
              </a:rPr>
              <a:t>SEVERITY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48463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1B8C6"/>
                </a:solidFill>
                <a:latin typeface="Inter"/>
              </a:rPr>
              <a:t>EXAMPLE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48463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1B8C6"/>
                </a:solidFill>
                <a:latin typeface="Inter"/>
              </a:rPr>
              <a:t>RESPOND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4846320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1B8C6"/>
                </a:solidFill>
                <a:latin typeface="Inter"/>
              </a:rPr>
              <a:t>RESOLVE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120640"/>
            <a:ext cx="11094415" cy="329184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17550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Inter"/>
              </a:rPr>
              <a:t>CRITICAL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5175504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Inter"/>
              </a:rPr>
              <a:t>System down during a round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517550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Inter"/>
              </a:rPr>
              <a:t>4 working hours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517550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Inter"/>
              </a:rPr>
              <a:t>1 working day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486400"/>
            <a:ext cx="11094415" cy="329184"/>
          </a:xfrm>
          <a:prstGeom prst="rect">
            <a:avLst/>
          </a:prstGeom>
          <a:solidFill>
            <a:srgbClr val="1A38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5412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Inter"/>
              </a:rPr>
              <a:t>HIGH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5541264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Inter"/>
              </a:rPr>
              <a:t>Major feature broken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554126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Inter"/>
              </a:rPr>
              <a:t>1 working day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554126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Inter"/>
              </a:rPr>
              <a:t>3 working days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852160"/>
            <a:ext cx="11094415" cy="329184"/>
          </a:xfrm>
          <a:prstGeom prst="rect">
            <a:avLst/>
          </a:prstGeom>
          <a:solidFill>
            <a:srgbClr val="F2F4F7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590702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1F3D"/>
                </a:solidFill>
                <a:latin typeface="Inter"/>
              </a:rPr>
              <a:t>MEDIUM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03120" y="5907024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A1F3D"/>
                </a:solidFill>
                <a:latin typeface="Inter"/>
              </a:rPr>
              <a:t>Minor bug · workaround exists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590702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1F3D"/>
                </a:solidFill>
                <a:latin typeface="Inter"/>
              </a:rPr>
              <a:t>2 working days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590702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A1F3D"/>
                </a:solidFill>
                <a:latin typeface="Inter"/>
              </a:rPr>
              <a:t>Next maintenance cycle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6217920"/>
            <a:ext cx="11094415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" y="627278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1F3D"/>
                </a:solidFill>
                <a:latin typeface="Inter"/>
              </a:rPr>
              <a:t>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3120" y="6272784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A1F3D"/>
                </a:solidFill>
                <a:latin typeface="Inter"/>
              </a:rPr>
              <a:t>Question · suggestion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627278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1F3D"/>
                </a:solidFill>
                <a:latin typeface="Inter"/>
              </a:rPr>
              <a:t>5 working days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0" y="6272784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A1F3D"/>
                </a:solidFill>
                <a:latin typeface="Inter"/>
              </a:rPr>
              <a:t>Quarterly 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292608" cy="292608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94360"/>
            <a:ext cx="82296" cy="82296"/>
          </a:xfrm>
          <a:prstGeom prst="ellipse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429768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1F3D"/>
                </a:solidFill>
                <a:latin typeface="Inter"/>
              </a:rPr>
              <a:t>MERIDIAN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57607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818D9D"/>
                </a:solidFill>
                <a:latin typeface="Inter"/>
              </a:rPr>
              <a:t>TECHNOLOGY GROUP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02920" cy="564515000"/>
          </a:xfrm>
          <a:prstGeom prst="rect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1B8C6"/>
                </a:solidFill>
                <a:latin typeface="Inter"/>
              </a:rPr>
              <a:t>SECURITY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A1F3D"/>
                </a:solidFill>
                <a:latin typeface="Inter"/>
              </a:rPr>
              <a:t>Built in, not bolted on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46520"/>
            <a:ext cx="11094415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18D9D"/>
                </a:solidFill>
                <a:latin typeface="Inter"/>
              </a:rPr>
              <a:t>Meridian Technology Group  ·  John Whitgift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5379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18D9D"/>
                </a:solidFill>
                <a:latin typeface="Inter"/>
              </a:rPr>
              <a:t>08 /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18D9D"/>
                </a:solidFill>
                <a:latin typeface="Inter"/>
              </a:rPr>
              <a:t>GDPR-aligned by design · the data is sensitive · the controls are real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17520"/>
            <a:ext cx="27889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017520"/>
            <a:ext cx="54864" cy="1143000"/>
          </a:xfrm>
          <a:prstGeom prst="rect">
            <a:avLst/>
          </a:prstGeom>
          <a:solidFill>
            <a:srgbClr val="11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004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1F3D"/>
                </a:solidFill>
                <a:latin typeface="Inter"/>
              </a:rPr>
              <a:t>Encryption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520440"/>
            <a:ext cx="2423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818D9D"/>
                </a:solidFill>
                <a:latin typeface="Inter"/>
              </a:rPr>
              <a:t>TLS in transit · AES-256 at rest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47288" y="3017520"/>
            <a:ext cx="27889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47288" y="3017520"/>
            <a:ext cx="54864" cy="1143000"/>
          </a:xfrm>
          <a:prstGeom prst="rect">
            <a:avLst/>
          </a:prstGeom>
          <a:solidFill>
            <a:srgbClr val="11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75888" y="32004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1F3D"/>
                </a:solidFill>
                <a:latin typeface="Inter"/>
              </a:rPr>
              <a:t>MFA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75888" y="3520440"/>
            <a:ext cx="2423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818D9D"/>
                </a:solidFill>
                <a:latin typeface="Inter"/>
              </a:rPr>
              <a:t>Mandatory for all admin accounts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45936" y="3017520"/>
            <a:ext cx="27889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45936" y="3017520"/>
            <a:ext cx="54864" cy="1143000"/>
          </a:xfrm>
          <a:prstGeom prst="rect">
            <a:avLst/>
          </a:prstGeom>
          <a:solidFill>
            <a:srgbClr val="11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74536" y="32004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1F3D"/>
                </a:solidFill>
                <a:latin typeface="Inter"/>
              </a:rPr>
              <a:t>RBAC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4536" y="3520440"/>
            <a:ext cx="2423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818D9D"/>
                </a:solidFill>
                <a:latin typeface="Inter"/>
              </a:rPr>
              <a:t>Applicants see only their own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44584" y="3017520"/>
            <a:ext cx="27889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244584" y="3017520"/>
            <a:ext cx="54864" cy="1143000"/>
          </a:xfrm>
          <a:prstGeom prst="rect">
            <a:avLst/>
          </a:prstGeom>
          <a:solidFill>
            <a:srgbClr val="11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73184" y="3200400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1F3D"/>
                </a:solidFill>
                <a:latin typeface="Inter"/>
              </a:rPr>
              <a:t>Data Minimisation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73184" y="3520440"/>
            <a:ext cx="2423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818D9D"/>
                </a:solidFill>
                <a:latin typeface="Inter"/>
              </a:rPr>
              <a:t>Names hidden by default · reveals audit-logged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270248"/>
            <a:ext cx="27889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270248"/>
            <a:ext cx="54864" cy="1143000"/>
          </a:xfrm>
          <a:prstGeom prst="rect">
            <a:avLst/>
          </a:prstGeom>
          <a:solidFill>
            <a:srgbClr val="11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45312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1F3D"/>
                </a:solidFill>
                <a:latin typeface="Inter"/>
              </a:rPr>
              <a:t>Document Access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773168"/>
            <a:ext cx="2423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818D9D"/>
                </a:solidFill>
                <a:latin typeface="Inter"/>
              </a:rPr>
              <a:t>Pre-signed time-limited URLs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47288" y="4270248"/>
            <a:ext cx="27889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447288" y="4270248"/>
            <a:ext cx="54864" cy="1143000"/>
          </a:xfrm>
          <a:prstGeom prst="rect">
            <a:avLst/>
          </a:prstGeom>
          <a:solidFill>
            <a:srgbClr val="11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75888" y="445312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1F3D"/>
                </a:solidFill>
                <a:latin typeface="Inter"/>
              </a:rPr>
              <a:t>Audit Trail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75888" y="4773168"/>
            <a:ext cx="2423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818D9D"/>
                </a:solidFill>
                <a:latin typeface="Inter"/>
              </a:rPr>
              <a:t>Immutable log of every CRUD operation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45936" y="4270248"/>
            <a:ext cx="27889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45936" y="4270248"/>
            <a:ext cx="54864" cy="1143000"/>
          </a:xfrm>
          <a:prstGeom prst="rect">
            <a:avLst/>
          </a:prstGeom>
          <a:solidFill>
            <a:srgbClr val="11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74536" y="445312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1F3D"/>
                </a:solidFill>
                <a:latin typeface="Inter"/>
              </a:rPr>
              <a:t>UK / EU Hosting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74536" y="4773168"/>
            <a:ext cx="2423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818D9D"/>
                </a:solidFill>
                <a:latin typeface="Inter"/>
              </a:rPr>
              <a:t>GDPR-compliant data residency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244584" y="4270248"/>
            <a:ext cx="27889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244584" y="4270248"/>
            <a:ext cx="54864" cy="1143000"/>
          </a:xfrm>
          <a:prstGeom prst="rect">
            <a:avLst/>
          </a:prstGeom>
          <a:solidFill>
            <a:srgbClr val="11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473184" y="4453128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1F3D"/>
                </a:solidFill>
                <a:latin typeface="Inter"/>
              </a:rPr>
              <a:t>Retention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473184" y="4773168"/>
            <a:ext cx="2423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818D9D"/>
                </a:solidFill>
                <a:latin typeface="Inter"/>
              </a:rPr>
              <a:t>7-year retention · right-to-deletion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522976"/>
            <a:ext cx="27889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8640" y="5522976"/>
            <a:ext cx="54864" cy="1143000"/>
          </a:xfrm>
          <a:prstGeom prst="rect">
            <a:avLst/>
          </a:prstGeom>
          <a:solidFill>
            <a:srgbClr val="11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5705856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1F3D"/>
                </a:solidFill>
                <a:latin typeface="Inter"/>
              </a:rPr>
              <a:t>Backups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6025896"/>
            <a:ext cx="2423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818D9D"/>
                </a:solidFill>
                <a:latin typeface="Inter"/>
              </a:rPr>
              <a:t>Daily automated · 30-day PITR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47288" y="5522976"/>
            <a:ext cx="27889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447288" y="5522976"/>
            <a:ext cx="54864" cy="1143000"/>
          </a:xfrm>
          <a:prstGeom prst="rect">
            <a:avLst/>
          </a:prstGeom>
          <a:solidFill>
            <a:srgbClr val="11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75888" y="5705856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1F3D"/>
                </a:solidFill>
                <a:latin typeface="Inter"/>
              </a:rPr>
              <a:t>OWASP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75888" y="6025896"/>
            <a:ext cx="2423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818D9D"/>
                </a:solidFill>
                <a:latin typeface="Inter"/>
              </a:rPr>
              <a:t>Top-10 hardening · CSP · rate limiting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45936" y="5522976"/>
            <a:ext cx="27889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345936" y="5522976"/>
            <a:ext cx="54864" cy="1143000"/>
          </a:xfrm>
          <a:prstGeom prst="rect">
            <a:avLst/>
          </a:prstGeom>
          <a:solidFill>
            <a:srgbClr val="11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74536" y="5705856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1F3D"/>
                </a:solidFill>
                <a:latin typeface="Inter"/>
              </a:rPr>
              <a:t>Virus Scanning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74536" y="6025896"/>
            <a:ext cx="2423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818D9D"/>
                </a:solidFill>
                <a:latin typeface="Inter"/>
              </a:rPr>
              <a:t>All uploads scanned before storage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44584" y="5522976"/>
            <a:ext cx="278892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244584" y="5522976"/>
            <a:ext cx="54864" cy="1143000"/>
          </a:xfrm>
          <a:prstGeom prst="rect">
            <a:avLst/>
          </a:prstGeom>
          <a:solidFill>
            <a:srgbClr val="11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73184" y="5705856"/>
            <a:ext cx="2423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A1F3D"/>
                </a:solidFill>
                <a:latin typeface="Inter"/>
              </a:rPr>
              <a:t>Independent Review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73184" y="6025896"/>
            <a:ext cx="24231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818D9D"/>
                </a:solidFill>
                <a:latin typeface="Inter"/>
              </a:rPr>
              <a:t>GDPR sign-off at G3 before go-live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292608" cy="292608"/>
          </a:xfrm>
          <a:prstGeom prst="rect">
            <a:avLst/>
          </a:prstGeom>
          <a:solidFill>
            <a:srgbClr val="0A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" y="594360"/>
            <a:ext cx="82296" cy="82296"/>
          </a:xfrm>
          <a:prstGeom prst="ellipse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" y="429768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A1F3D"/>
                </a:solidFill>
                <a:latin typeface="Inter"/>
              </a:rPr>
              <a:t>MERIDIAN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57607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 i="0">
                <a:solidFill>
                  <a:srgbClr val="818D9D"/>
                </a:solidFill>
                <a:latin typeface="Inter"/>
              </a:rPr>
              <a:t>TECHNOLOGY GROUP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502920" cy="564515000"/>
          </a:xfrm>
          <a:prstGeom prst="rect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73152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1B8C6"/>
                </a:solidFill>
                <a:latin typeface="Inter"/>
              </a:rPr>
              <a:t>MIGRATION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6304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0A1F3D"/>
                </a:solidFill>
                <a:latin typeface="Inter"/>
              </a:rPr>
              <a:t>From Grant Tracker · custom workstream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6446520"/>
            <a:ext cx="11094415" cy="635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65379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818D9D"/>
                </a:solidFill>
                <a:latin typeface="Inter"/>
              </a:rPr>
              <a:t>Meridian Technology Group  ·  John Whitgift Foundation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62895" y="653796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18D9D"/>
                </a:solidFill>
                <a:latin typeface="Inter"/>
              </a:rPr>
              <a:t>09 / 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3774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818D9D"/>
                </a:solidFill>
                <a:latin typeface="Inter"/>
              </a:rPr>
              <a:t>Grant Tracker is sunset 31 Dec 2026 · we have runway, but discovery comes first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0575" y="3017520"/>
            <a:ext cx="3657600" cy="1920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90575" y="3017520"/>
            <a:ext cx="3657600" cy="54864"/>
          </a:xfrm>
          <a:prstGeom prst="rect">
            <a:avLst/>
          </a:prstGeom>
          <a:solidFill>
            <a:srgbClr val="11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4895" y="321868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B8C6"/>
                </a:solidFill>
                <a:latin typeface="Inter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4895" y="373075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1F3D"/>
                </a:solidFill>
                <a:latin typeface="Inter"/>
              </a:rPr>
              <a:t>Discovery Sprint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4895" y="404164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18D9D"/>
                </a:solidFill>
                <a:latin typeface="Inter"/>
              </a:rPr>
              <a:t>1–2 weeks · fixed price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4895" y="4343400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D2937"/>
                </a:solidFill>
                <a:latin typeface="Inter"/>
              </a:rPr>
              <a:t>Audit Grant Tracker exports.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D2937"/>
                </a:solidFill>
                <a:latin typeface="Inter"/>
              </a:rPr>
              <a:t>Document data shape.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D2937"/>
                </a:solidFill>
                <a:latin typeface="Inter"/>
              </a:rPr>
              <a:t>Identify migration risks.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67047" y="3017520"/>
            <a:ext cx="3657600" cy="1920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67047" y="3017520"/>
            <a:ext cx="3657600" cy="54864"/>
          </a:xfrm>
          <a:prstGeom prst="rect">
            <a:avLst/>
          </a:prstGeom>
          <a:solidFill>
            <a:srgbClr val="11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41367" y="321868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B8C6"/>
                </a:solidFill>
                <a:latin typeface="Inter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1367" y="373075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1F3D"/>
                </a:solidFill>
                <a:latin typeface="Inter"/>
              </a:rPr>
              <a:t>Fixed Quote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367" y="404164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18D9D"/>
                </a:solidFill>
                <a:latin typeface="Inter"/>
              </a:rPr>
              <a:t>Based on findings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1367" y="4343400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D2937"/>
                </a:solidFill>
                <a:latin typeface="Inter"/>
              </a:rPr>
              <a:t>Extract → transform → load.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D2937"/>
                </a:solidFill>
                <a:latin typeface="Inter"/>
              </a:rPr>
              <a:t>Scope confirmed.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D2937"/>
                </a:solidFill>
                <a:latin typeface="Inter"/>
              </a:rPr>
              <a:t>Timeline aligned with go-live.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3519" y="3017520"/>
            <a:ext cx="3657600" cy="1920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3519" y="3017520"/>
            <a:ext cx="3657600" cy="54864"/>
          </a:xfrm>
          <a:prstGeom prst="rect">
            <a:avLst/>
          </a:prstGeom>
          <a:solidFill>
            <a:srgbClr val="11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17839" y="321868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1B8C6"/>
                </a:solidFill>
                <a:latin typeface="Inter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17839" y="3730752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A1F3D"/>
                </a:solidFill>
                <a:latin typeface="Inter"/>
              </a:rPr>
              <a:t>Cutover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17839" y="404164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18D9D"/>
                </a:solidFill>
                <a:latin typeface="Inter"/>
              </a:rPr>
              <a:t>100% migrated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7839" y="4343400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D2937"/>
                </a:solidFill>
                <a:latin typeface="Inter"/>
              </a:rPr>
              <a:t>Active accounts moved.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D2937"/>
                </a:solidFill>
                <a:latin typeface="Inter"/>
              </a:rPr>
              <a:t>20% spot-checked.</a:t>
            </a:r>
          </a:p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D2937"/>
                </a:solidFill>
                <a:latin typeface="Inter"/>
              </a:rPr>
              <a:t>Reference numbers preserved (WS-/TS-).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21208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1B8C6"/>
                </a:solidFill>
                <a:latin typeface="Inter"/>
              </a:rPr>
              <a:t>WHAT MOVES ACROSS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504688"/>
            <a:ext cx="2395728" cy="384048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5586984"/>
            <a:ext cx="20299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Inter"/>
              </a:rPr>
              <a:t>Active bursary accounts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054096" y="5504688"/>
            <a:ext cx="2304288" cy="384048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55264" y="5586984"/>
            <a:ext cx="19385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Inter"/>
              </a:rPr>
              <a:t>Historical assessments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68112" y="5504688"/>
            <a:ext cx="1115568" cy="384048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0" y="5586984"/>
            <a:ext cx="749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Inter"/>
              </a:rPr>
              <a:t>Documents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693408" y="5504688"/>
            <a:ext cx="1755648" cy="384048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94576" y="5586984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Inter"/>
              </a:rPr>
              <a:t>Sibling linkages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58784" y="5504688"/>
            <a:ext cx="1572768" cy="384048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59952" y="5586984"/>
            <a:ext cx="1207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Inter"/>
              </a:rPr>
              <a:t>Benchmark fees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027103" y="0"/>
            <a:ext cx="164592" cy="6858000"/>
          </a:xfrm>
          <a:prstGeom prst="rect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640080"/>
            <a:ext cx="329184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32688" y="841248"/>
            <a:ext cx="91440" cy="91440"/>
          </a:xfrm>
          <a:prstGeom prst="ellipse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676656"/>
            <a:ext cx="36576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Inter"/>
              </a:rPr>
              <a:t>MERIDIAN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84124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0">
                <a:solidFill>
                  <a:srgbClr val="6BDEEA"/>
                </a:solidFill>
                <a:latin typeface="Inter"/>
              </a:rPr>
              <a:t>TECHNOLOGY GROUP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640080" cy="44450"/>
          </a:xfrm>
          <a:prstGeom prst="rect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1B8C6"/>
                </a:solidFill>
                <a:latin typeface="Inter"/>
              </a:rPr>
              <a:t>NEXT STEPS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FFFFF"/>
                </a:solidFill>
                <a:latin typeface="Inter"/>
              </a:rPr>
              <a:t>Where we go from here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429000"/>
            <a:ext cx="384048" cy="384048"/>
          </a:xfrm>
          <a:prstGeom prst="ellipse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456432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A1F3D"/>
                </a:solidFill>
                <a:latin typeface="Inter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34747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Inter"/>
              </a:rPr>
              <a:t>Confirm acceptance of commercial terms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886200"/>
            <a:ext cx="384048" cy="384048"/>
          </a:xfrm>
          <a:prstGeom prst="ellipse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913632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A1F3D"/>
                </a:solidFill>
                <a:latin typeface="Inter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9319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Inter"/>
              </a:rPr>
              <a:t>Schedule UAT kick-off — w/c 18 May 2026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343400"/>
            <a:ext cx="384048" cy="384048"/>
          </a:xfrm>
          <a:prstGeom prst="ellipse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70832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A1F3D"/>
                </a:solidFill>
                <a:latin typeface="Inter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3891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Inter"/>
              </a:rPr>
              <a:t>Initiate Grant Tracker migration discovery</a:t>
            </a:r>
          </a:p>
        </p:txBody>
      </p:sp>
      <p:sp>
        <p:nvSpPr>
          <p:cNvPr id="20" name="Oval 19"/>
          <p:cNvSpPr/>
          <p:nvPr/>
        </p:nvSpPr>
        <p:spPr>
          <a:xfrm>
            <a:off x="731520" y="4800600"/>
            <a:ext cx="384048" cy="384048"/>
          </a:xfrm>
          <a:prstGeom prst="ellipse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828032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A1F3D"/>
                </a:solidFill>
                <a:latin typeface="Inter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8463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Inter"/>
              </a:rPr>
              <a:t>Confirm Freshdesk onboarding</a:t>
            </a:r>
          </a:p>
        </p:txBody>
      </p:sp>
      <p:sp>
        <p:nvSpPr>
          <p:cNvPr id="23" name="Oval 22"/>
          <p:cNvSpPr/>
          <p:nvPr/>
        </p:nvSpPr>
        <p:spPr>
          <a:xfrm>
            <a:off x="731520" y="5257800"/>
            <a:ext cx="384048" cy="384048"/>
          </a:xfrm>
          <a:prstGeom prst="ellipse">
            <a:avLst/>
          </a:prstGeom>
          <a:solidFill>
            <a:srgbClr val="11B8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285232"/>
            <a:ext cx="38404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A1F3D"/>
                </a:solidFill>
                <a:latin typeface="Inter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3035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0">
                <a:solidFill>
                  <a:srgbClr val="FFFFFF"/>
                </a:solidFill>
                <a:latin typeface="Inter"/>
              </a:rPr>
              <a:t>Sign go-live date — end of June 2026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6126480"/>
            <a:ext cx="10515600" cy="6350"/>
          </a:xfrm>
          <a:prstGeom prst="rect">
            <a:avLst/>
          </a:prstGeom>
          <a:solidFill>
            <a:srgbClr val="11B8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263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1B8C6"/>
                </a:solidFill>
                <a:latin typeface="Inter"/>
              </a:rPr>
              <a:t>Brian Wagner  ·  Meridian Technology Group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4095" y="62636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BDEEA"/>
                </a:solidFill>
                <a:latin typeface="Inter"/>
              </a:rPr>
              <a:t>meridiantech.group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